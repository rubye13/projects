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Рекомендации на главной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118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D2E3"/>
                </a:solidFill>
                <a:latin typeface="Arial"/>
              </a:rPr>
              <a:t>Что умеет модель, насколько она лучше популярного и как её подключить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C2D6"/>
                </a:solidFill>
                <a:latin typeface="Arial"/>
              </a:rPr>
              <a:t>Андрей Рубинштейн, команда рекомендаций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377440"/>
            <a:ext cx="1051560" cy="1371600"/>
          </a:xfrm>
          <a:prstGeom prst="roundRect">
            <a:avLst>
              <a:gd name="adj" fmla="val 12000"/>
            </a:avLst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38160" y="2697480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2377440"/>
            <a:ext cx="1051560" cy="1371600"/>
          </a:xfrm>
          <a:prstGeom prst="roundRect">
            <a:avLst>
              <a:gd name="adj" fmla="val 12000"/>
            </a:avLst>
          </a:prstGeom>
          <a:solidFill>
            <a:srgbClr val="F58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72600" y="2697480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0" y="2377440"/>
            <a:ext cx="1051560" cy="1371600"/>
          </a:xfrm>
          <a:prstGeom prst="roundRect">
            <a:avLst>
              <a:gd name="adj" fmla="val 12000"/>
            </a:avLst>
          </a:prstGeom>
          <a:solidFill>
            <a:srgbClr val="F8A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07040" y="2697480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319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C9D2E3"/>
                </a:solidFill>
                <a:latin typeface="Arial"/>
              </a:rPr>
              <a:t>три места под товары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Задача: рекомендовать каждому три товара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C6B8A"/>
                </a:solidFill>
                <a:latin typeface="Arial"/>
              </a:rPr>
              <a:t>Главная страница магазина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280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298448" y="274320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C6B8A"/>
                </a:solidFill>
                <a:latin typeface="Arial"/>
              </a:rPr>
              <a:t>товар для
этого человека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423160"/>
            <a:ext cx="1280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715768" y="274320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474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C6B8A"/>
                </a:solidFill>
                <a:latin typeface="Arial"/>
              </a:rPr>
              <a:t>товар для
этого человека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423160"/>
            <a:ext cx="1280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133087" y="274320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474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C6B8A"/>
                </a:solidFill>
                <a:latin typeface="Arial"/>
              </a:rPr>
              <a:t>товар для
этого человека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Каждый посетитель видит свою тройку. Кто пришёл впервые, видит самые покупаемые товары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600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Бизнес-метрика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Оборот от допродаж. Цель клиента +20%. Честно измерить её можно только A/B-тестом на живом трафике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3154680"/>
            <a:ext cx="502920" cy="50292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Техническая метрика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Precision@3: какая доля из трёх показанных товаров куплена за неделю после показа. По ней выбираем модель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4663440"/>
            <a:ext cx="502920" cy="502920"/>
          </a:xfrm>
          <a:prstGeom prst="ellipse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Как проверяем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2920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Модель учится на прошлом и угадывает следующую неделю. Итоговая проверка на неделе 11-18 сентября, которую модель не видела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Данные: три таблицы от клиента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Georgia"/>
              </a:rPr>
              <a:t>events.csv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2.76 млн строк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timestamp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время в мс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visitorid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id посетителя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event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текст: просмотр, корзина или покупка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itemid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id товара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transactionid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номер чека, только у покупок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Georgia"/>
              </a:rPr>
              <a:t>item_properties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20.3 млн строк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timestamp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дата снимка (воскресенья)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itemid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id товара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property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текст, название свойства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value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текст, значение свойства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C6B8A"/>
                </a:solidFill>
                <a:latin typeface="Arial"/>
              </a:rPr>
              <a:t>Понятны только категория и наличие, остальное зашифровано. Свойство 790 похоже на цену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554480"/>
            <a:ext cx="3474720" cy="30632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79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Georgia"/>
              </a:rPr>
              <a:t>category_tree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9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1 669 строк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651760"/>
            <a:ext cx="3017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categoryid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id категории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A44"/>
                </a:solidFill>
                <a:latin typeface="Arial"/>
              </a:rPr>
              <a:t>parentid  </a:t>
            </a:r>
            <a:r>
              <a:rPr sz="1200" b="0" i="0">
                <a:solidFill>
                  <a:srgbClr val="222833"/>
                </a:solidFill>
                <a:latin typeface="Arial"/>
              </a:rPr>
              <a:t>число, родительская категория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C6B8A"/>
                </a:solidFill>
                <a:latin typeface="Arial"/>
              </a:rPr>
              <a:t>25 корневых разделов, до 5 уровней вложенности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Georgia"/>
              </a:rPr>
              <a:t>4.5 месяца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3 мая - 18 сентября 2015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1860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Georgia"/>
              </a:rPr>
              <a:t>1.4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посетителей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Georgia"/>
              </a:rPr>
              <a:t>235 тыс.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товаров в журнале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420" y="5074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Georgia"/>
              </a:rPr>
              <a:t>22 тыс.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542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покупок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Покупателей мало, почти все новые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Georgia"/>
              </a:rPr>
              <a:t>0.83%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Arial"/>
              </a:rPr>
              <a:t>посетителей что-то покупают, в корзину кладут 2.7%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37960" y="18745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Georgia"/>
              </a:rPr>
              <a:t>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9202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Arial"/>
              </a:rPr>
              <a:t>посетителей сделали одно действие и ушли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25C54"/>
                </a:solidFill>
                <a:latin typeface="Georgia"/>
              </a:rPr>
              <a:t>1 из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9776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Arial"/>
              </a:rPr>
              <a:t>покупателей недели заходил к нам за прошлые 8 недель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39319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1F2A44"/>
                </a:solidFill>
                <a:latin typeface="Georgia"/>
              </a:rPr>
              <a:t>0.61%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9776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833"/>
                </a:solidFill>
                <a:latin typeface="Arial"/>
              </a:rPr>
              <a:t>покупок закрывал бейзлайн: один топ-3 для всех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Отсюда устройство решения: персональная подборка для тех, у кого есть история, и самые покупаемые товары для всех остальных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Берут то, что недавно смотрели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Сколько дней прошло с последнего просмотра товара и какая доля таких товаров окажется в корзине или покупке за неделю</a:t>
            </a:r>
          </a:p>
        </p:txBody>
      </p:sp>
      <p:sp>
        <p:nvSpPr>
          <p:cNvPr id="4" name="Rectangle 3"/>
          <p:cNvSpPr/>
          <p:nvPr/>
        </p:nvSpPr>
        <p:spPr>
          <a:xfrm>
            <a:off x="929640" y="2331720"/>
            <a:ext cx="579120" cy="2926080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F25C54"/>
                </a:solidFill>
                <a:latin typeface="Arial"/>
              </a:rPr>
              <a:t>1.5%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до 1 дня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7880" y="3529646"/>
            <a:ext cx="579120" cy="172815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8320" y="3163886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222833"/>
                </a:solidFill>
                <a:latin typeface="Arial"/>
              </a:rPr>
              <a:t>0.9%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832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1-3 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4275894"/>
            <a:ext cx="579120" cy="98190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6560" y="3910134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222833"/>
                </a:solidFill>
                <a:latin typeface="Arial"/>
              </a:rPr>
              <a:t>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656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3-7 дней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4360" y="4531190"/>
            <a:ext cx="579120" cy="72661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165430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222833"/>
                </a:solidFill>
                <a:latin typeface="Arial"/>
              </a:rPr>
              <a:t>0.4%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1-2 недели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2600" y="4747209"/>
            <a:ext cx="579120" cy="510591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3040" y="4381449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222833"/>
                </a:solidFill>
                <a:latin typeface="Arial"/>
              </a:rPr>
              <a:t>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304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2-4 недели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4982867"/>
            <a:ext cx="579120" cy="27493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1280" y="4617107"/>
            <a:ext cx="115824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222833"/>
                </a:solidFill>
                <a:latin typeface="Arial"/>
              </a:rPr>
              <a:t>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1280" y="5349240"/>
            <a:ext cx="115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222833"/>
                </a:solidFill>
                <a:latin typeface="Arial"/>
              </a:rPr>
              <a:t>4-8 недель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257800"/>
            <a:ext cx="6949440" cy="0"/>
          </a:xfrm>
          <a:prstGeom prst="line">
            <a:avLst/>
          </a:prstGeom>
          <a:ln w="1270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80644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C6B8A"/>
                </a:solidFill>
                <a:latin typeface="Arial"/>
              </a:rPr>
              <a:t>В среднем по всем товарам из истории 0.4%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7373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0" y="19202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25C54"/>
                </a:solidFill>
                <a:latin typeface="Georgia"/>
              </a:rPr>
              <a:t>в 10 раз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517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чаще берут товар, который смотрели вчера, чем месяц назад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0" y="3977639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в 8 раз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091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чаще кладут в корзину или покупают то, что человек уже откладывал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Какие факторы видит модель: 37 штук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Человек и товар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сколько раз смотрел и клал в корзину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как давно видел товар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был ли товар в последнем визите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интерес человека к категории товара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663440" y="1783080"/>
            <a:ext cx="685800" cy="6858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Человек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сколько смотрит и покупает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сколько было визитов и дней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как давно заходил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как часто кладёт в корзину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554480"/>
            <a:ext cx="3474720" cy="352044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412479" y="1783080"/>
            <a:ext cx="685800" cy="68580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59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Товар и категория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7432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популярность за 8 недель и за последнюю неделю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конверсия в корзину и в покупку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цена, наличие, категория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25C54"/>
                </a:solidFill>
                <a:latin typeface="Arial"/>
              </a:rPr>
              <a:t>•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место товара в своей категории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Arial"/>
              </a:rPr>
              <a:t>Все факторы считаются только по прошлому: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на дату рекомендации модель не знает ничего из будущего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A44"/>
                </a:solidFill>
                <a:latin typeface="Arial"/>
              </a:rPr>
              <a:t>Генератор факторов Серёги тоже проверили: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время суток и топ-20 свойств товаров. Прироста не дали, в итоговую модель не вошли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Как модель выбирает три товара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423160" cy="196596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История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все просмотры, корзины и покупки человека за 8 недель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18104" y="2715768"/>
            <a:ext cx="283464" cy="0"/>
          </a:xfrm>
          <a:prstGeom prst="line">
            <a:avLst/>
          </a:prstGeom>
          <a:ln w="28575">
            <a:solidFill>
              <a:srgbClr val="5C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56432" y="1737360"/>
            <a:ext cx="2423160" cy="196596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85032" y="19659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Кандидаты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246888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до 50 последних товаров, с которыми он что-то делал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34456" y="2715768"/>
            <a:ext cx="283464" cy="0"/>
          </a:xfrm>
          <a:prstGeom prst="line">
            <a:avLst/>
          </a:prstGeom>
          <a:ln w="28575">
            <a:solidFill>
              <a:srgbClr val="5C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72784" y="1737360"/>
            <a:ext cx="2423160" cy="1965960"/>
          </a:xfrm>
          <a:prstGeom prst="roundRect">
            <a:avLst>
              <a:gd name="adj" fmla="val 6000"/>
            </a:avLst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01384" y="19659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CatBoost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6888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оценивает вероятность, что человек положит товар в корзину или купит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0808" y="2715768"/>
            <a:ext cx="283464" cy="0"/>
          </a:xfrm>
          <a:prstGeom prst="line">
            <a:avLst/>
          </a:prstGeom>
          <a:ln w="28575">
            <a:solidFill>
              <a:srgbClr val="5C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89136" y="1737360"/>
            <a:ext cx="2423160" cy="196596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17736" y="196596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Три лучших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246888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товары с наибольшей вероятностью идут на главную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Arial"/>
              </a:rPr>
              <a:t>Нет истории или меньше трёх своих товаров? 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Свободные места занимают самые покупаемые товары за 8 недель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Arial"/>
              </a:rPr>
              <a:t>CatBoost </a:t>
            </a:r>
            <a:r>
              <a:rPr sz="1400" b="0" i="0">
                <a:solidFill>
                  <a:srgbClr val="222833"/>
                </a:solidFill>
                <a:latin typeface="Arial"/>
              </a:rPr>
              <a:t>- это сотни небольших деревьев решений, каждое следующее исправляет ошибки предыдущих. Учится на прошлых неделях: для каждого товара из истории человека известно, положил ли он его потом в корзину или купил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Что влияет на решение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1718386"/>
            <a:ext cx="2926080" cy="300837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товар в наличии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60020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29.2%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2255596"/>
            <a:ext cx="668374" cy="300837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3741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давно ли человек видел товар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3174" y="213741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6.7%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792806"/>
            <a:ext cx="480474" cy="300837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462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клал ли товар в корзину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5274" y="267462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4.8%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3330016"/>
            <a:ext cx="450424" cy="30083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183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товар был в последнем визите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5224" y="321183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4.5%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867226"/>
            <a:ext cx="448830" cy="30083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конверсия товара в корзину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630" y="374904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4404436"/>
            <a:ext cx="380554" cy="30083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8625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просмотры товара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354" y="428625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3.8%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941646"/>
            <a:ext cx="375730" cy="30083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2346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давно ли с товаром что-то делали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530" y="482346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3.8%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5478856"/>
            <a:ext cx="347361" cy="30083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60670"/>
            <a:ext cx="324612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как часто человек кладёт в корзину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161" y="5360670"/>
            <a:ext cx="914400" cy="53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C6B8A"/>
                </a:solidFill>
                <a:latin typeface="Arial"/>
              </a:rPr>
              <a:t>Вклад фактора в предсказания модели, %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645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Наличие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0574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товар, которого нет на складе, модель наверх не ставит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0" y="310896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1089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Свежесть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5204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чем свежее человек смотрел товар, тем выше он в подборке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4572000"/>
            <a:ext cx="502920" cy="5029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572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A44"/>
                </a:solidFill>
                <a:latin typeface="Arial"/>
              </a:rPr>
              <a:t>Корзина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98348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Arial"/>
              </a:rPr>
              <a:t>товар, который человек уже откладывал, поднимается наверх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Итог на тестовой неделе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4206240" cy="13258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25C54"/>
                </a:solidFill>
                <a:latin typeface="Georgia"/>
              </a:rPr>
              <a:t>4.6%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9164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Precision@3 модели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39"/>
            <a:ext cx="4206240" cy="13258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172967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×2.5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00399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к популярному (1.85%)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4206240" cy="132588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4681728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2A44"/>
                </a:solidFill>
                <a:latin typeface="Georgia"/>
              </a:rPr>
              <a:t>7.9%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0916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22833"/>
                </a:solidFill>
                <a:latin typeface="Arial"/>
              </a:rPr>
              <a:t>покупок недели попали в подборки, у бейзлайна было 0.61%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57705"/>
            <a:ext cx="3291840" cy="349909"/>
          </a:xfrm>
          <a:prstGeom prst="rect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920240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CatBoost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920240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25C54"/>
                </a:solidFill>
                <a:latin typeface="Arial"/>
              </a:rPr>
              <a:t>4.60%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682544"/>
            <a:ext cx="3193576" cy="349909"/>
          </a:xfrm>
          <a:prstGeom prst="rect">
            <a:avLst/>
          </a:prstGeom>
          <a:solidFill>
            <a:srgbClr val="B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545079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Похожие товары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1656" y="2545079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4.46%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307383"/>
            <a:ext cx="3095312" cy="349909"/>
          </a:xfrm>
          <a:prstGeom prst="rect">
            <a:avLst/>
          </a:prstGeom>
          <a:solidFill>
            <a:srgbClr val="B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3169918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Правило по истории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3392" y="3169918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4.32%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932222"/>
            <a:ext cx="2849652" cy="349909"/>
          </a:xfrm>
          <a:prstGeom prst="rect">
            <a:avLst/>
          </a:prstGeom>
          <a:solidFill>
            <a:srgbClr val="B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794757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LightFM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7732" y="3794757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3.98%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557061"/>
            <a:ext cx="1326562" cy="349909"/>
          </a:xfrm>
          <a:prstGeom prst="rect">
            <a:avLst/>
          </a:prstGeom>
          <a:solidFill>
            <a:srgbClr val="B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419596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Популярное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4642" y="4419596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1.85%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5181900"/>
            <a:ext cx="1326562" cy="349909"/>
          </a:xfrm>
          <a:prstGeom prst="rect">
            <a:avLst/>
          </a:prstGeom>
          <a:solidFill>
            <a:srgbClr val="B8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5044435"/>
            <a:ext cx="196596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222833"/>
                </a:solidFill>
                <a:latin typeface="Arial"/>
              </a:rPr>
              <a:t>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4642" y="5044435"/>
            <a:ext cx="914400" cy="624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22833"/>
                </a:solidFill>
                <a:latin typeface="Arial"/>
              </a:rPr>
              <a:t>1.85%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15087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C6B8A"/>
                </a:solidFill>
                <a:latin typeface="Arial"/>
              </a:rPr>
              <a:t>Precision@3 разных моделей на тестовой неделе 11-18 сентября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85216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C6B8A"/>
                </a:solidFill>
                <a:latin typeface="Arial"/>
              </a:rPr>
              <a:t>Потолок для этих данных около 5.4%: остальные покупки - товары, которых человек раньше не видел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Что готово и 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5C54"/>
                </a:solidFill>
                <a:latin typeface="Arial"/>
              </a:rPr>
              <a:t>Готово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1945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Исследование данных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807208"/>
            <a:ext cx="411480" cy="41148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529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Факторы для модели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465576"/>
            <a:ext cx="411480" cy="41148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1129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Эксперименты: 6 подходов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123944"/>
            <a:ext cx="411480" cy="41148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16966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Сервис рекомендаций (MVP)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82312"/>
            <a:ext cx="411480" cy="41148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82803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Docker-образ и документация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25C54"/>
                </a:solidFill>
                <a:latin typeface="Arial"/>
              </a:rPr>
              <a:t>Дальше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A/B-тест на части трафика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2E3"/>
                </a:solidFill>
                <a:latin typeface="Arial"/>
              </a:rPr>
              <a:t>измерить прирост оборота, ради которого всё затевалось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46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Пересчёт внутри визита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8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2E3"/>
                </a:solidFill>
                <a:latin typeface="Arial"/>
              </a:rPr>
              <a:t>обновлять тройку после первых просмотров, так ловим покупки того же визита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43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Похожие товары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2E3"/>
                </a:solidFill>
                <a:latin typeface="Arial"/>
              </a:rPr>
              <a:t>добавить в кандидаты товары, похожие на просмотренные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8C2D6"/>
                </a:solidFill>
                <a:latin typeface="Arial"/>
              </a:rPr>
              <a:t>Сервис отвечает за 17 мс, держит около 400 запросов в секунду и не падает на некорректных запросах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Рекомендации на главной</dc:title>
  <dc:subject/>
  <dc:creator>Андрей Рубинштейн</dc:creator>
  <cp:keywords/>
  <dc:description>generated using python-pptx</dc:description>
  <cp:lastModifiedBy>Андрей Рубинштейн</cp:lastModifiedBy>
  <cp:revision>1</cp:revision>
  <dcterms:created xsi:type="dcterms:W3CDTF">2013-01-27T09:14:16Z</dcterms:created>
  <dcterms:modified xsi:type="dcterms:W3CDTF">2013-01-27T09:15:58Z</dcterms:modified>
  <cp:category/>
</cp:coreProperties>
</file>